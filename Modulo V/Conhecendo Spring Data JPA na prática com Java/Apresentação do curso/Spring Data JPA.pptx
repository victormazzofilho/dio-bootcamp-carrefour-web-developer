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Proxima Nova"/>
      <p:regular r:id="rId15"/>
      <p:bold r:id="rId16"/>
      <p:italic r:id="rId17"/>
      <p:boldItalic r:id="rId18"/>
    </p:embeddedFont>
    <p:embeddedFont>
      <p:font typeface="Century Gothic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3" roundtripDataSignature="AMtx7miVuxEpomkYG5we3ueXZLBa/l1y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.fntdata"/><Relationship Id="rId11" Type="http://schemas.openxmlformats.org/officeDocument/2006/relationships/slide" Target="slides/slide7.xml"/><Relationship Id="rId22" Type="http://schemas.openxmlformats.org/officeDocument/2006/relationships/font" Target="fonts/CenturyGothic-boldItalic.fntdata"/><Relationship Id="rId10" Type="http://schemas.openxmlformats.org/officeDocument/2006/relationships/slide" Target="slides/slide6.xml"/><Relationship Id="rId21" Type="http://schemas.openxmlformats.org/officeDocument/2006/relationships/font" Target="fonts/CenturyGothic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roximaNova-regular.fntdata"/><Relationship Id="rId14" Type="http://schemas.openxmlformats.org/officeDocument/2006/relationships/slide" Target="slides/slide10.xml"/><Relationship Id="rId17" Type="http://schemas.openxmlformats.org/officeDocument/2006/relationships/font" Target="fonts/ProximaNova-italic.fntdata"/><Relationship Id="rId16" Type="http://schemas.openxmlformats.org/officeDocument/2006/relationships/font" Target="fonts/ProximaNova-bold.fntdata"/><Relationship Id="rId5" Type="http://schemas.openxmlformats.org/officeDocument/2006/relationships/slide" Target="slides/slide1.xml"/><Relationship Id="rId19" Type="http://schemas.openxmlformats.org/officeDocument/2006/relationships/font" Target="fonts/CenturyGothic-regular.fntdata"/><Relationship Id="rId6" Type="http://schemas.openxmlformats.org/officeDocument/2006/relationships/slide" Target="slides/slide2.xml"/><Relationship Id="rId18" Type="http://schemas.openxmlformats.org/officeDocument/2006/relationships/font" Target="fonts/ProximaNova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048a54f9d3_1_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1048a54f9d3_1_0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criar o seu programa de uma forma mental, utilizando o computador mais potente do mundo, o nosso cerebro. se vc ainda não sabe programar, vai criar o seu primeiro programa hoje, mesmo sem saber sequer uma linha de codigo. e mesmo que vc já saiba programar, vc vai conseguir fazer um reforço na sua logica. sabe quando acontece aqueles errinhos e vc fica engasgado em algum ponto? essa aula vai ser muito importante pra vc tbm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/>
          <p:nvPr>
            <p:ph idx="1" type="subTitle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2"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3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3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"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2"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"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2"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3"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4"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"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2"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3"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4"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5"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6"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10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3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hyperlink" Target="https://github.com/cami-la/academia-dio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30.png"/><Relationship Id="rId9" Type="http://schemas.openxmlformats.org/officeDocument/2006/relationships/hyperlink" Target="https://web.dio.me/course/jpa-com-hibernate/learning/6cb58f70-30ac-4de8-aaa8-f440efa3bc97/?back=/browse" TargetMode="External"/><Relationship Id="rId5" Type="http://schemas.openxmlformats.org/officeDocument/2006/relationships/image" Target="../media/image35.png"/><Relationship Id="rId6" Type="http://schemas.openxmlformats.org/officeDocument/2006/relationships/image" Target="../media/image32.png"/><Relationship Id="rId7" Type="http://schemas.openxmlformats.org/officeDocument/2006/relationships/hyperlink" Target="https://web.dio.me/course/conceitos-e-melhores-praticas-com-bancos-de-dados-postgresql/learning/abe736a3-279b-465c-986f-e35be51a7b39/?back=/browse" TargetMode="External"/><Relationship Id="rId8" Type="http://schemas.openxmlformats.org/officeDocument/2006/relationships/hyperlink" Target="https://web.dio.me/course/trabalhando-com-banco-de-dados-utilizando-jdbc-e-jpa/learning/36caf662-304d-444b-978d-958d79bb5a9a/?back=/brows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hyperlink" Target="https://discord.com/invite/eUrT2UFeS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/>
        </p:nvSpPr>
        <p:spPr>
          <a:xfrm>
            <a:off x="395280" y="3929400"/>
            <a:ext cx="85200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Camila Cavalcante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Instrutora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311760" y="1828800"/>
            <a:ext cx="8520120" cy="1012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EF86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Conhecendo o projeto </a:t>
            </a:r>
            <a:r>
              <a:rPr b="1" lang="en-US" sz="4800">
                <a:solidFill>
                  <a:srgbClr val="EF86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Spring Data JPA com Java</a:t>
            </a:r>
            <a:r>
              <a:rPr lang="en-US" sz="4800">
                <a:solidFill>
                  <a:srgbClr val="EF86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en-US" sz="4800" u="none" cap="none" strike="noStrike">
                <a:solidFill>
                  <a:srgbClr val="EF86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 prática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465840" y="3872160"/>
            <a:ext cx="447120" cy="5688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0" y="4839840"/>
            <a:ext cx="9143700" cy="3030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0" y="0"/>
            <a:ext cx="9143640" cy="5688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60" y="243000"/>
            <a:ext cx="1698480" cy="59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6335" y="3765235"/>
            <a:ext cx="264600" cy="26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9835" y="3318940"/>
            <a:ext cx="243000" cy="2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5040" y="4297680"/>
            <a:ext cx="274321" cy="27432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"/>
          <p:cNvSpPr txBox="1"/>
          <p:nvPr/>
        </p:nvSpPr>
        <p:spPr>
          <a:xfrm>
            <a:off x="5553960" y="3691100"/>
            <a:ext cx="2469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/in/cami-la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566410" y="4032438"/>
            <a:ext cx="25962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/cami-la/academia-digital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6810050" y="3280060"/>
            <a:ext cx="1453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@estudant.i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/>
          <p:nvPr/>
        </p:nvSpPr>
        <p:spPr>
          <a:xfrm>
            <a:off x="414805" y="243005"/>
            <a:ext cx="8520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do Projeto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60" y="243000"/>
            <a:ext cx="169848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"/>
          <p:cNvSpPr txBox="1"/>
          <p:nvPr/>
        </p:nvSpPr>
        <p:spPr>
          <a:xfrm>
            <a:off x="640080" y="1392120"/>
            <a:ext cx="7955280" cy="22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Ao final deste projeto, o Dev irá conhecer os principais conceitos d</a:t>
            </a:r>
            <a:r>
              <a:rPr lang="en-US" sz="28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28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mapeamento objeto relacional (ORM) usando o </a:t>
            </a:r>
            <a:r>
              <a:rPr b="1" i="0" lang="en-US" sz="28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Spring Data JPA</a:t>
            </a:r>
            <a:r>
              <a:rPr b="0" i="0" lang="en-US" sz="28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. Para isso, uma </a:t>
            </a:r>
            <a:r>
              <a:rPr b="1" i="0" lang="en-US" sz="28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API RESTful</a:t>
            </a:r>
            <a:r>
              <a:rPr b="0" i="0" lang="en-US" sz="28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será desenvolvida com ênfase na modelagem de suas entidades, no domínio de uma academia de ginástica.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0" y="5077800"/>
            <a:ext cx="9143640" cy="5688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080" y="4499640"/>
            <a:ext cx="188640" cy="17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080" y="4320000"/>
            <a:ext cx="173160" cy="15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880" y="4693680"/>
            <a:ext cx="195840" cy="17964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"/>
          <p:cNvSpPr txBox="1"/>
          <p:nvPr/>
        </p:nvSpPr>
        <p:spPr>
          <a:xfrm>
            <a:off x="337320" y="4297680"/>
            <a:ext cx="1761120" cy="238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/in/cami-la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768395" y="3904695"/>
            <a:ext cx="185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/cami-la/academia-digital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349920" y="4677840"/>
            <a:ext cx="1036440" cy="36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@estudant.i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395315" y="243002"/>
            <a:ext cx="8520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60" y="243000"/>
            <a:ext cx="169848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0" y="5077800"/>
            <a:ext cx="9143700" cy="570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40080" y="1280160"/>
            <a:ext cx="59436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Fundamentos do Spring Boot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Noções de SQL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1140" y="4536605"/>
            <a:ext cx="188640" cy="17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1140" y="4356965"/>
            <a:ext cx="173162" cy="15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53940" y="4730645"/>
            <a:ext cx="195842" cy="17963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7644380" y="4334645"/>
            <a:ext cx="176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/in/cami-la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7649780" y="4530485"/>
            <a:ext cx="185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/cami-la/academia-digital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7656980" y="4714805"/>
            <a:ext cx="1036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@estudant.i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2800" y="2438775"/>
            <a:ext cx="3642749" cy="156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88180" y="1149610"/>
            <a:ext cx="2255520" cy="2506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/>
        </p:nvSpPr>
        <p:spPr>
          <a:xfrm>
            <a:off x="623640" y="243065"/>
            <a:ext cx="8520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Tecnologias Utilizadas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60" y="243000"/>
            <a:ext cx="169848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0" y="5077800"/>
            <a:ext cx="9143640" cy="5688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53605" y="1169900"/>
            <a:ext cx="43092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IDE IntelliJ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Java 11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Maven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Spring Web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Spring Data JPA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PostgreSQL Driver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Hibernate Validator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Lombok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Postman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1140" y="4536605"/>
            <a:ext cx="188640" cy="17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1140" y="4356965"/>
            <a:ext cx="173162" cy="15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53940" y="4730645"/>
            <a:ext cx="195842" cy="17963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7644380" y="4334645"/>
            <a:ext cx="176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/in/cami-la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7656980" y="4572860"/>
            <a:ext cx="185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/cami-la/academia-digital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7656980" y="4714805"/>
            <a:ext cx="1036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@estudant.i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311760" y="305640"/>
            <a:ext cx="8520120" cy="59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60" y="243000"/>
            <a:ext cx="169848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 txBox="1"/>
          <p:nvPr/>
        </p:nvSpPr>
        <p:spPr>
          <a:xfrm>
            <a:off x="683640" y="1491480"/>
            <a:ext cx="1379520" cy="57564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0" y="5086625"/>
            <a:ext cx="9143700" cy="570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267650" y="1491475"/>
            <a:ext cx="52422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68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Apresentação do Projeto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83640" y="2283840"/>
            <a:ext cx="1379520" cy="57564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2267650" y="2283850"/>
            <a:ext cx="52350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68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Construíndo as Operações de CRUD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83640" y="3075840"/>
            <a:ext cx="1379520" cy="57564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267650" y="3075850"/>
            <a:ext cx="52350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68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Consultas Avançadas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1140" y="4536605"/>
            <a:ext cx="188640" cy="17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1140" y="4356965"/>
            <a:ext cx="173162" cy="15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53940" y="4730645"/>
            <a:ext cx="195842" cy="17963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7644380" y="4334645"/>
            <a:ext cx="176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/in/cami-la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7649780" y="4530485"/>
            <a:ext cx="185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/cami-la/academia-digital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7656980" y="4714805"/>
            <a:ext cx="1036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@estudant.i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/>
        </p:nvSpPr>
        <p:spPr>
          <a:xfrm>
            <a:off x="471600" y="231840"/>
            <a:ext cx="8520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Diagrama ER BD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60" y="243000"/>
            <a:ext cx="169848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/>
          <p:nvPr/>
        </p:nvSpPr>
        <p:spPr>
          <a:xfrm>
            <a:off x="0" y="5077800"/>
            <a:ext cx="9143700" cy="570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54240" y="1318680"/>
            <a:ext cx="8477700" cy="30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080" y="4499640"/>
            <a:ext cx="188640" cy="17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080" y="4320000"/>
            <a:ext cx="173162" cy="159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880" y="4693680"/>
            <a:ext cx="195837" cy="17963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 txBox="1"/>
          <p:nvPr/>
        </p:nvSpPr>
        <p:spPr>
          <a:xfrm>
            <a:off x="337320" y="4297680"/>
            <a:ext cx="176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/in/cami-la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342720" y="4493520"/>
            <a:ext cx="185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/cami-la/academia-digital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349920" y="4677840"/>
            <a:ext cx="1036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@estudant.i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99425" y="893363"/>
            <a:ext cx="5466824" cy="364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/>
        </p:nvSpPr>
        <p:spPr>
          <a:xfrm>
            <a:off x="532440" y="231840"/>
            <a:ext cx="8520120" cy="59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Fluxo Back-end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60" y="243000"/>
            <a:ext cx="169848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0" y="5077800"/>
            <a:ext cx="9143640" cy="5688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54240" y="1318680"/>
            <a:ext cx="8477640" cy="30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080" y="4499640"/>
            <a:ext cx="188640" cy="17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080" y="4320000"/>
            <a:ext cx="173160" cy="15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880" y="4693680"/>
            <a:ext cx="195840" cy="179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 txBox="1"/>
          <p:nvPr/>
        </p:nvSpPr>
        <p:spPr>
          <a:xfrm>
            <a:off x="337320" y="4297680"/>
            <a:ext cx="1761120" cy="238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/in/cami-la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342720" y="4493520"/>
            <a:ext cx="185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/cami-la/academia-digital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349920" y="4677840"/>
            <a:ext cx="1036440" cy="36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@estudant.i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57200" y="1463040"/>
            <a:ext cx="1280160" cy="1828800"/>
          </a:xfrm>
          <a:custGeom>
            <a:rect b="b" l="l" r="r" t="t"/>
            <a:pathLst>
              <a:path extrusionOk="0" h="5082" w="3558">
                <a:moveTo>
                  <a:pt x="592" y="0"/>
                </a:moveTo>
                <a:lnTo>
                  <a:pt x="593" y="0"/>
                </a:lnTo>
                <a:cubicBezTo>
                  <a:pt x="489" y="0"/>
                  <a:pt x="387" y="27"/>
                  <a:pt x="296" y="79"/>
                </a:cubicBezTo>
                <a:cubicBezTo>
                  <a:pt x="206" y="131"/>
                  <a:pt x="131" y="206"/>
                  <a:pt x="79" y="296"/>
                </a:cubicBezTo>
                <a:cubicBezTo>
                  <a:pt x="27" y="387"/>
                  <a:pt x="0" y="489"/>
                  <a:pt x="0" y="593"/>
                </a:cubicBezTo>
                <a:lnTo>
                  <a:pt x="0" y="4488"/>
                </a:lnTo>
                <a:lnTo>
                  <a:pt x="0" y="4488"/>
                </a:lnTo>
                <a:cubicBezTo>
                  <a:pt x="0" y="4592"/>
                  <a:pt x="27" y="4694"/>
                  <a:pt x="79" y="4785"/>
                </a:cubicBezTo>
                <a:cubicBezTo>
                  <a:pt x="131" y="4875"/>
                  <a:pt x="206" y="4950"/>
                  <a:pt x="296" y="5002"/>
                </a:cubicBezTo>
                <a:cubicBezTo>
                  <a:pt x="387" y="5054"/>
                  <a:pt x="489" y="5081"/>
                  <a:pt x="593" y="5081"/>
                </a:cubicBezTo>
                <a:lnTo>
                  <a:pt x="2964" y="5081"/>
                </a:lnTo>
                <a:lnTo>
                  <a:pt x="2964" y="5081"/>
                </a:lnTo>
                <a:cubicBezTo>
                  <a:pt x="3068" y="5081"/>
                  <a:pt x="3170" y="5054"/>
                  <a:pt x="3261" y="5002"/>
                </a:cubicBezTo>
                <a:cubicBezTo>
                  <a:pt x="3351" y="4950"/>
                  <a:pt x="3426" y="4875"/>
                  <a:pt x="3478" y="4785"/>
                </a:cubicBezTo>
                <a:cubicBezTo>
                  <a:pt x="3530" y="4694"/>
                  <a:pt x="3557" y="4592"/>
                  <a:pt x="3557" y="4488"/>
                </a:cubicBezTo>
                <a:lnTo>
                  <a:pt x="3557" y="592"/>
                </a:lnTo>
                <a:lnTo>
                  <a:pt x="3557" y="593"/>
                </a:lnTo>
                <a:lnTo>
                  <a:pt x="3557" y="593"/>
                </a:lnTo>
                <a:cubicBezTo>
                  <a:pt x="3557" y="489"/>
                  <a:pt x="3530" y="387"/>
                  <a:pt x="3478" y="296"/>
                </a:cubicBezTo>
                <a:cubicBezTo>
                  <a:pt x="3426" y="206"/>
                  <a:pt x="3351" y="131"/>
                  <a:pt x="3261" y="79"/>
                </a:cubicBezTo>
                <a:cubicBezTo>
                  <a:pt x="3170" y="27"/>
                  <a:pt x="3068" y="0"/>
                  <a:pt x="2964" y="0"/>
                </a:cubicBezTo>
                <a:lnTo>
                  <a:pt x="592" y="0"/>
                </a:lnTo>
              </a:path>
            </a:pathLst>
          </a:custGeom>
          <a:solidFill>
            <a:srgbClr val="FFF5CE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7"/>
          <p:cNvCxnSpPr/>
          <p:nvPr/>
        </p:nvCxnSpPr>
        <p:spPr>
          <a:xfrm>
            <a:off x="1737360" y="2377440"/>
            <a:ext cx="1097280" cy="0"/>
          </a:xfrm>
          <a:prstGeom prst="straightConnector1">
            <a:avLst/>
          </a:prstGeom>
          <a:noFill/>
          <a:ln cap="flat" cmpd="sng" w="9525">
            <a:solidFill>
              <a:srgbClr val="3465A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1" name="Google Shape;171;p7"/>
          <p:cNvSpPr/>
          <p:nvPr/>
        </p:nvSpPr>
        <p:spPr>
          <a:xfrm>
            <a:off x="2834640" y="1828800"/>
            <a:ext cx="1280160" cy="1005840"/>
          </a:xfrm>
          <a:custGeom>
            <a:rect b="b" l="l" r="r" t="t"/>
            <a:pathLst>
              <a:path extrusionOk="0" h="2796" w="3558">
                <a:moveTo>
                  <a:pt x="465" y="0"/>
                </a:moveTo>
                <a:lnTo>
                  <a:pt x="466" y="0"/>
                </a:lnTo>
                <a:cubicBezTo>
                  <a:pt x="384" y="0"/>
                  <a:pt x="304" y="22"/>
                  <a:pt x="233" y="62"/>
                </a:cubicBezTo>
                <a:cubicBezTo>
                  <a:pt x="162" y="103"/>
                  <a:pt x="103" y="162"/>
                  <a:pt x="62" y="233"/>
                </a:cubicBezTo>
                <a:cubicBezTo>
                  <a:pt x="22" y="304"/>
                  <a:pt x="0" y="384"/>
                  <a:pt x="0" y="466"/>
                </a:cubicBezTo>
                <a:lnTo>
                  <a:pt x="0" y="2329"/>
                </a:lnTo>
                <a:lnTo>
                  <a:pt x="0" y="2329"/>
                </a:lnTo>
                <a:cubicBezTo>
                  <a:pt x="0" y="2411"/>
                  <a:pt x="22" y="2491"/>
                  <a:pt x="62" y="2562"/>
                </a:cubicBezTo>
                <a:cubicBezTo>
                  <a:pt x="103" y="2633"/>
                  <a:pt x="162" y="2692"/>
                  <a:pt x="233" y="2733"/>
                </a:cubicBezTo>
                <a:cubicBezTo>
                  <a:pt x="304" y="2773"/>
                  <a:pt x="384" y="2795"/>
                  <a:pt x="466" y="2795"/>
                </a:cubicBezTo>
                <a:lnTo>
                  <a:pt x="3091" y="2795"/>
                </a:lnTo>
                <a:lnTo>
                  <a:pt x="3091" y="2795"/>
                </a:lnTo>
                <a:cubicBezTo>
                  <a:pt x="3173" y="2795"/>
                  <a:pt x="3253" y="2773"/>
                  <a:pt x="3324" y="2733"/>
                </a:cubicBezTo>
                <a:cubicBezTo>
                  <a:pt x="3395" y="2692"/>
                  <a:pt x="3454" y="2633"/>
                  <a:pt x="3495" y="2562"/>
                </a:cubicBezTo>
                <a:cubicBezTo>
                  <a:pt x="3535" y="2491"/>
                  <a:pt x="3557" y="2411"/>
                  <a:pt x="3557" y="2329"/>
                </a:cubicBezTo>
                <a:lnTo>
                  <a:pt x="3557" y="465"/>
                </a:lnTo>
                <a:lnTo>
                  <a:pt x="3557" y="466"/>
                </a:lnTo>
                <a:lnTo>
                  <a:pt x="3557" y="466"/>
                </a:lnTo>
                <a:cubicBezTo>
                  <a:pt x="3557" y="384"/>
                  <a:pt x="3535" y="304"/>
                  <a:pt x="3495" y="233"/>
                </a:cubicBezTo>
                <a:cubicBezTo>
                  <a:pt x="3454" y="162"/>
                  <a:pt x="3395" y="103"/>
                  <a:pt x="3324" y="62"/>
                </a:cubicBezTo>
                <a:cubicBezTo>
                  <a:pt x="3253" y="22"/>
                  <a:pt x="3173" y="0"/>
                  <a:pt x="3091" y="0"/>
                </a:cubicBezTo>
                <a:lnTo>
                  <a:pt x="465" y="0"/>
                </a:lnTo>
              </a:path>
            </a:pathLst>
          </a:custGeom>
          <a:solidFill>
            <a:srgbClr val="FFD8CE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7"/>
          <p:cNvCxnSpPr/>
          <p:nvPr/>
        </p:nvCxnSpPr>
        <p:spPr>
          <a:xfrm>
            <a:off x="4114800" y="2377440"/>
            <a:ext cx="1005840" cy="0"/>
          </a:xfrm>
          <a:prstGeom prst="straightConnector1">
            <a:avLst/>
          </a:prstGeom>
          <a:noFill/>
          <a:ln cap="flat" cmpd="sng" w="9525">
            <a:solidFill>
              <a:srgbClr val="3465A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" name="Google Shape;173;p7"/>
          <p:cNvSpPr/>
          <p:nvPr/>
        </p:nvSpPr>
        <p:spPr>
          <a:xfrm>
            <a:off x="5120640" y="1828800"/>
            <a:ext cx="1280160" cy="1005840"/>
          </a:xfrm>
          <a:custGeom>
            <a:rect b="b" l="l" r="r" t="t"/>
            <a:pathLst>
              <a:path extrusionOk="0" h="2796" w="3558">
                <a:moveTo>
                  <a:pt x="465" y="0"/>
                </a:moveTo>
                <a:lnTo>
                  <a:pt x="466" y="0"/>
                </a:lnTo>
                <a:cubicBezTo>
                  <a:pt x="384" y="0"/>
                  <a:pt x="304" y="22"/>
                  <a:pt x="233" y="62"/>
                </a:cubicBezTo>
                <a:cubicBezTo>
                  <a:pt x="162" y="103"/>
                  <a:pt x="103" y="162"/>
                  <a:pt x="62" y="233"/>
                </a:cubicBezTo>
                <a:cubicBezTo>
                  <a:pt x="22" y="304"/>
                  <a:pt x="0" y="384"/>
                  <a:pt x="0" y="466"/>
                </a:cubicBezTo>
                <a:lnTo>
                  <a:pt x="0" y="2329"/>
                </a:lnTo>
                <a:lnTo>
                  <a:pt x="0" y="2329"/>
                </a:lnTo>
                <a:cubicBezTo>
                  <a:pt x="0" y="2411"/>
                  <a:pt x="22" y="2491"/>
                  <a:pt x="62" y="2562"/>
                </a:cubicBezTo>
                <a:cubicBezTo>
                  <a:pt x="103" y="2633"/>
                  <a:pt x="162" y="2692"/>
                  <a:pt x="233" y="2733"/>
                </a:cubicBezTo>
                <a:cubicBezTo>
                  <a:pt x="304" y="2773"/>
                  <a:pt x="384" y="2795"/>
                  <a:pt x="466" y="2795"/>
                </a:cubicBezTo>
                <a:lnTo>
                  <a:pt x="3091" y="2795"/>
                </a:lnTo>
                <a:lnTo>
                  <a:pt x="3091" y="2795"/>
                </a:lnTo>
                <a:cubicBezTo>
                  <a:pt x="3173" y="2795"/>
                  <a:pt x="3253" y="2773"/>
                  <a:pt x="3324" y="2733"/>
                </a:cubicBezTo>
                <a:cubicBezTo>
                  <a:pt x="3395" y="2692"/>
                  <a:pt x="3454" y="2633"/>
                  <a:pt x="3495" y="2562"/>
                </a:cubicBezTo>
                <a:cubicBezTo>
                  <a:pt x="3535" y="2491"/>
                  <a:pt x="3557" y="2411"/>
                  <a:pt x="3557" y="2329"/>
                </a:cubicBezTo>
                <a:lnTo>
                  <a:pt x="3557" y="465"/>
                </a:lnTo>
                <a:lnTo>
                  <a:pt x="3557" y="466"/>
                </a:lnTo>
                <a:lnTo>
                  <a:pt x="3557" y="466"/>
                </a:lnTo>
                <a:cubicBezTo>
                  <a:pt x="3557" y="384"/>
                  <a:pt x="3535" y="304"/>
                  <a:pt x="3495" y="233"/>
                </a:cubicBezTo>
                <a:cubicBezTo>
                  <a:pt x="3454" y="162"/>
                  <a:pt x="3395" y="103"/>
                  <a:pt x="3324" y="62"/>
                </a:cubicBezTo>
                <a:cubicBezTo>
                  <a:pt x="3253" y="22"/>
                  <a:pt x="3173" y="0"/>
                  <a:pt x="3091" y="0"/>
                </a:cubicBezTo>
                <a:lnTo>
                  <a:pt x="465" y="0"/>
                </a:lnTo>
              </a:path>
            </a:pathLst>
          </a:custGeom>
          <a:solidFill>
            <a:srgbClr val="FFD8CE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174;p7"/>
          <p:cNvCxnSpPr/>
          <p:nvPr/>
        </p:nvCxnSpPr>
        <p:spPr>
          <a:xfrm>
            <a:off x="6400800" y="2377440"/>
            <a:ext cx="1005840" cy="0"/>
          </a:xfrm>
          <a:prstGeom prst="straightConnector1">
            <a:avLst/>
          </a:prstGeom>
          <a:noFill/>
          <a:ln cap="flat" cmpd="sng" w="9525">
            <a:solidFill>
              <a:srgbClr val="3465A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5" name="Google Shape;175;p7"/>
          <p:cNvSpPr/>
          <p:nvPr/>
        </p:nvSpPr>
        <p:spPr>
          <a:xfrm>
            <a:off x="7406640" y="1828800"/>
            <a:ext cx="1280160" cy="1005840"/>
          </a:xfrm>
          <a:custGeom>
            <a:rect b="b" l="l" r="r" t="t"/>
            <a:pathLst>
              <a:path extrusionOk="0" h="2796" w="3558">
                <a:moveTo>
                  <a:pt x="465" y="0"/>
                </a:moveTo>
                <a:lnTo>
                  <a:pt x="466" y="0"/>
                </a:lnTo>
                <a:cubicBezTo>
                  <a:pt x="384" y="0"/>
                  <a:pt x="304" y="22"/>
                  <a:pt x="233" y="62"/>
                </a:cubicBezTo>
                <a:cubicBezTo>
                  <a:pt x="162" y="103"/>
                  <a:pt x="103" y="162"/>
                  <a:pt x="62" y="233"/>
                </a:cubicBezTo>
                <a:cubicBezTo>
                  <a:pt x="22" y="304"/>
                  <a:pt x="0" y="384"/>
                  <a:pt x="0" y="466"/>
                </a:cubicBezTo>
                <a:lnTo>
                  <a:pt x="0" y="2329"/>
                </a:lnTo>
                <a:lnTo>
                  <a:pt x="0" y="2329"/>
                </a:lnTo>
                <a:cubicBezTo>
                  <a:pt x="0" y="2411"/>
                  <a:pt x="22" y="2491"/>
                  <a:pt x="62" y="2562"/>
                </a:cubicBezTo>
                <a:cubicBezTo>
                  <a:pt x="103" y="2633"/>
                  <a:pt x="162" y="2692"/>
                  <a:pt x="233" y="2733"/>
                </a:cubicBezTo>
                <a:cubicBezTo>
                  <a:pt x="304" y="2773"/>
                  <a:pt x="384" y="2795"/>
                  <a:pt x="466" y="2795"/>
                </a:cubicBezTo>
                <a:lnTo>
                  <a:pt x="3091" y="2795"/>
                </a:lnTo>
                <a:lnTo>
                  <a:pt x="3091" y="2795"/>
                </a:lnTo>
                <a:cubicBezTo>
                  <a:pt x="3173" y="2795"/>
                  <a:pt x="3253" y="2773"/>
                  <a:pt x="3324" y="2733"/>
                </a:cubicBezTo>
                <a:cubicBezTo>
                  <a:pt x="3395" y="2692"/>
                  <a:pt x="3454" y="2633"/>
                  <a:pt x="3495" y="2562"/>
                </a:cubicBezTo>
                <a:cubicBezTo>
                  <a:pt x="3535" y="2491"/>
                  <a:pt x="3557" y="2411"/>
                  <a:pt x="3557" y="2329"/>
                </a:cubicBezTo>
                <a:lnTo>
                  <a:pt x="3557" y="465"/>
                </a:lnTo>
                <a:lnTo>
                  <a:pt x="3557" y="466"/>
                </a:lnTo>
                <a:lnTo>
                  <a:pt x="3557" y="466"/>
                </a:lnTo>
                <a:cubicBezTo>
                  <a:pt x="3557" y="384"/>
                  <a:pt x="3535" y="304"/>
                  <a:pt x="3495" y="233"/>
                </a:cubicBezTo>
                <a:cubicBezTo>
                  <a:pt x="3454" y="162"/>
                  <a:pt x="3395" y="103"/>
                  <a:pt x="3324" y="62"/>
                </a:cubicBezTo>
                <a:cubicBezTo>
                  <a:pt x="3253" y="22"/>
                  <a:pt x="3173" y="0"/>
                  <a:pt x="3091" y="0"/>
                </a:cubicBezTo>
                <a:lnTo>
                  <a:pt x="465" y="0"/>
                </a:lnTo>
              </a:path>
            </a:pathLst>
          </a:custGeom>
          <a:solidFill>
            <a:srgbClr val="FFD8CE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7"/>
          <p:cNvCxnSpPr/>
          <p:nvPr/>
        </p:nvCxnSpPr>
        <p:spPr>
          <a:xfrm>
            <a:off x="8046720" y="2834640"/>
            <a:ext cx="0" cy="969480"/>
          </a:xfrm>
          <a:prstGeom prst="straightConnector1">
            <a:avLst/>
          </a:prstGeom>
          <a:noFill/>
          <a:ln cap="flat" cmpd="sng" w="9525">
            <a:solidFill>
              <a:srgbClr val="3465A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7" name="Google Shape;177;p7"/>
          <p:cNvSpPr/>
          <p:nvPr/>
        </p:nvSpPr>
        <p:spPr>
          <a:xfrm>
            <a:off x="7589520" y="3804120"/>
            <a:ext cx="914400" cy="1133640"/>
          </a:xfrm>
          <a:prstGeom prst="can">
            <a:avLst>
              <a:gd fmla="val 25000" name="adj"/>
            </a:avLst>
          </a:prstGeom>
          <a:solidFill>
            <a:srgbClr val="729FCF"/>
          </a:soli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457200" y="2235240"/>
            <a:ext cx="1280160" cy="2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1" i="0" sz="1400" u="none" cap="none" strike="noStrike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2834640" y="2194560"/>
            <a:ext cx="1280160" cy="2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1" i="0" sz="1400" u="none" cap="none" strike="noStrike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5120640" y="2194560"/>
            <a:ext cx="1280160" cy="2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b="1" i="0" sz="1400" u="none" cap="none" strike="noStrike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7406640" y="2205720"/>
            <a:ext cx="128016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endParaRPr b="1" i="0" sz="1400" u="none" cap="none" strike="noStrike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7498080" y="4246920"/>
            <a:ext cx="1097280" cy="507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Postgre</a:t>
            </a:r>
            <a:endParaRPr b="1" i="0" sz="1400" u="none" cap="none" strike="noStrike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048a54f9d3_1_0"/>
          <p:cNvSpPr txBox="1"/>
          <p:nvPr/>
        </p:nvSpPr>
        <p:spPr>
          <a:xfrm>
            <a:off x="532440" y="231840"/>
            <a:ext cx="8520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Desafio do Projeto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g1048a54f9d3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60" y="243000"/>
            <a:ext cx="169848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1048a54f9d3_1_0"/>
          <p:cNvSpPr/>
          <p:nvPr/>
        </p:nvSpPr>
        <p:spPr>
          <a:xfrm>
            <a:off x="0" y="5077800"/>
            <a:ext cx="9143700" cy="570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1048a54f9d3_1_0"/>
          <p:cNvSpPr/>
          <p:nvPr/>
        </p:nvSpPr>
        <p:spPr>
          <a:xfrm>
            <a:off x="354240" y="1318680"/>
            <a:ext cx="8477700" cy="30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g1048a54f9d3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080" y="4499640"/>
            <a:ext cx="188640" cy="17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1048a54f9d3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080" y="4320000"/>
            <a:ext cx="173162" cy="15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1048a54f9d3_1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880" y="4693680"/>
            <a:ext cx="195842" cy="17963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1048a54f9d3_1_0"/>
          <p:cNvSpPr txBox="1"/>
          <p:nvPr/>
        </p:nvSpPr>
        <p:spPr>
          <a:xfrm>
            <a:off x="337320" y="4297680"/>
            <a:ext cx="176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/in/cami-la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1048a54f9d3_1_0"/>
          <p:cNvSpPr txBox="1"/>
          <p:nvPr/>
        </p:nvSpPr>
        <p:spPr>
          <a:xfrm>
            <a:off x="342720" y="4493520"/>
            <a:ext cx="185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/cami-la/academia-digital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1048a54f9d3_1_0"/>
          <p:cNvSpPr txBox="1"/>
          <p:nvPr/>
        </p:nvSpPr>
        <p:spPr>
          <a:xfrm>
            <a:off x="349920" y="4677840"/>
            <a:ext cx="1036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@estudant.i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1048a54f9d3_1_0"/>
          <p:cNvSpPr txBox="1"/>
          <p:nvPr/>
        </p:nvSpPr>
        <p:spPr>
          <a:xfrm>
            <a:off x="386800" y="1108699"/>
            <a:ext cx="8412600" cy="30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No decorrer do projeto você terá a oportunidade de aplicar os conceitos aprendidos. 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Para tal, o projeto está dividido em partes e você poderá brilhar, contribuindo com seu código. 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Caso ainda não se sinta confortável, todo o código-fonte do projeto estará disponível no </a:t>
            </a: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GitHub</a:t>
            </a: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 txBox="1"/>
          <p:nvPr/>
        </p:nvSpPr>
        <p:spPr>
          <a:xfrm>
            <a:off x="532440" y="231840"/>
            <a:ext cx="8520120" cy="59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saber mais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60" y="243000"/>
            <a:ext cx="169848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0" y="5077800"/>
            <a:ext cx="9143640" cy="5688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54240" y="1318680"/>
            <a:ext cx="8477700" cy="30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080" y="4499640"/>
            <a:ext cx="188640" cy="17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080" y="4320000"/>
            <a:ext cx="173162" cy="15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880" y="4693680"/>
            <a:ext cx="195842" cy="17963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8"/>
          <p:cNvSpPr txBox="1"/>
          <p:nvPr/>
        </p:nvSpPr>
        <p:spPr>
          <a:xfrm>
            <a:off x="337320" y="4297680"/>
            <a:ext cx="1761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/in/cami-la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102870" y="4479120"/>
            <a:ext cx="1851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/cami-la/academia-digital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349920" y="4677840"/>
            <a:ext cx="1036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@estudant.i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365760" y="1280160"/>
            <a:ext cx="8412480" cy="85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Calibri"/>
              <a:buChar char="●"/>
            </a:pP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Conceitos e melhores práticas com bancos de dados PostgreSQL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Calibri"/>
              <a:buChar char="●"/>
            </a:pP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Trabalhando com banco de dados utilizando JDBC e JPA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404040"/>
              </a:buClr>
              <a:buSzPts val="2400"/>
              <a:buFont typeface="Calibri"/>
              <a:buChar char="●"/>
            </a:pPr>
            <a:r>
              <a:rPr b="0" i="0" lang="en-US" sz="2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JPA com Hibernate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 txBox="1"/>
          <p:nvPr/>
        </p:nvSpPr>
        <p:spPr>
          <a:xfrm>
            <a:off x="388080" y="3811680"/>
            <a:ext cx="85201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311760" y="756720"/>
            <a:ext cx="8520120" cy="50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311760" y="1828800"/>
            <a:ext cx="8520120" cy="133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0" i="0" sz="6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65840" y="3872160"/>
            <a:ext cx="447120" cy="5688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0" y="57240"/>
            <a:ext cx="9143640" cy="508572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0" y="0"/>
            <a:ext cx="9143640" cy="5688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60" y="259920"/>
            <a:ext cx="169848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0" y="4839840"/>
            <a:ext cx="9143640" cy="303120"/>
          </a:xfrm>
          <a:prstGeom prst="rect">
            <a:avLst/>
          </a:prstGeom>
          <a:solidFill>
            <a:srgbClr val="FF8000"/>
          </a:solidFill>
          <a:ln cap="flat" cmpd="sng" w="9525">
            <a:solidFill>
              <a:srgbClr val="FF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67640" y="1131480"/>
            <a:ext cx="8520120" cy="1583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 durante o curso?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311760" y="1333440"/>
            <a:ext cx="7860240" cy="3182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67640" y="2787840"/>
            <a:ext cx="6192360" cy="16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Fórum do curso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&gt; Comunidade </a:t>
            </a:r>
            <a:r>
              <a:rPr b="0" i="0" lang="en-US" sz="2800" u="sng" cap="none" strike="noStrike">
                <a:solidFill>
                  <a:srgbClr val="0097A7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online (discord)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</cp:coreProperties>
</file>